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BA-490D-8134-9EB14B8C5CB0}"/>
              </c:ext>
            </c:extLst>
          </c:dPt>
          <c:dPt>
            <c:idx val="1"/>
            <c:invertIfNegative val="0"/>
            <c:bubble3D val="0"/>
            <c:spPr>
              <a:solidFill>
                <a:srgbClr val="D4E9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BA-490D-8134-9EB14B8C5C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Outreach
Target</c:v>
                </c:pt>
                <c:pt idx="1">
                  <c:v>Not Targeted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1996</c:v>
                </c:pt>
                <c:pt idx="1">
                  <c:v>8004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BA-490D-8134-9EB14B8C5C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17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Churn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&amp; Retention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members to maximize retention at minimal cost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2926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2121408" cy="1536192"/>
          </a:xfrm>
          <a:prstGeom prst="rect">
            <a:avLst/>
          </a:prstGeom>
          <a:solidFill>
            <a:srgbClr val="0D2D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0779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75488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Analyzed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96896" y="2788920"/>
            <a:ext cx="2045209" cy="1536192"/>
          </a:xfrm>
          <a:prstGeom prst="rect">
            <a:avLst/>
          </a:prstGeom>
          <a:solidFill>
            <a:srgbClr val="0D2D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9077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21281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732533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15200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DD98CA-AAF2-5F1A-AA25-E419A4FFE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106" y="2460361"/>
            <a:ext cx="3339356" cy="25045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MODEL SELECTION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64707"/>
            <a:ext cx="36576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58375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2595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0.674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2820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45217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observation window  •  10,000 members  •  4 data sources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375" y="19339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236349"/>
            <a:ext cx="3062849" cy="231215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DE9ED"/>
          </a:solidFill>
          <a:ln w="12700">
            <a:solidFill>
              <a:srgbClr val="DD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 Member Retention Analysis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DCF283-7E9C-3F17-211D-3750EA7E1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855" y="1097280"/>
            <a:ext cx="4842124" cy="3319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CHURN?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789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04241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= Strongest Retention Tool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60020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contacted directly and significantly reduces the likelihood of churn — proactive outreach works.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789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104241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Engagement = Loyalty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9472" y="160020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sessions, health content visits &amp; clinical encounters are all associated with lower churn probability.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7889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788920"/>
            <a:ext cx="73152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9535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291693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 Browsing = Warning Sign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38912" y="347472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drifting toward non-health content show elevated churn risk — a key early signal to act on.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7889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2788920"/>
            <a:ext cx="73152" cy="1691640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9535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13248" y="291693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Members Churn More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19472" y="347472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 is critical. New members haven't yet built the habits that drive long-term loyalty.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DE9ED"/>
          </a:solidFill>
          <a:ln w="12700">
            <a:solidFill>
              <a:srgbClr val="DD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7432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 Member Retention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TO REACH OUT TO  &amp;  OPTIMAL 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Score Formula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2011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Score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Score + ICD Boost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Churn Probability × Outreach Benefit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Boost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 per priority diagnosis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3520440"/>
            <a:ext cx="4114800" cy="685800"/>
          </a:xfrm>
          <a:prstGeom prst="rect">
            <a:avLst/>
          </a:prstGeom>
          <a:solidFill>
            <a:srgbClr val="FFF4EC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churn probability &gt; 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observed ~20% base churn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1148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1,996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recommended for outreach  (20% of test population)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754880" y="28346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DE9ED"/>
          </a:solidFill>
          <a:ln w="12700">
            <a:solidFill>
              <a:srgbClr val="DD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 Member Retention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top 1,996 members in the provided ranked list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2140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messaging on health content re-engagement for members drifting to non-health browsing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8529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early on newer members — they churn at higher rates before building habits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478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diagnosis members (E11.9, I10, Z71.3) should receive condition-specific messaging tied to their care pathway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26110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0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improvement: targeted outreach (vs random) would significantly improve model accuracy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  |  Member Retention Analysis 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306</Words>
  <Application>Microsoft Office PowerPoint</Application>
  <PresentationFormat>On-screen Show (16:9)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WellCo Member Retention Analysis</dc:title>
  <dc:subject>PptxGenJS Presentation</dc:subject>
  <dc:creator>PptxGenJS</dc:creator>
  <cp:lastModifiedBy>Kobi Nissim</cp:lastModifiedBy>
  <cp:revision>3</cp:revision>
  <dcterms:created xsi:type="dcterms:W3CDTF">2026-02-22T10:27:01Z</dcterms:created>
  <dcterms:modified xsi:type="dcterms:W3CDTF">2026-02-24T07:23:30Z</dcterms:modified>
</cp:coreProperties>
</file>